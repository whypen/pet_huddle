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6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73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2011680"/>
            <a:ext cx="7315200" cy="7315200"/>
          </a:xfrm>
          <a:prstGeom prst="ellipse">
            <a:avLst/>
          </a:prstGeom>
          <a:solidFill>
            <a:srgbClr val="2145CF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371600"/>
            <a:ext cx="3474720" cy="3474720"/>
          </a:xfrm>
          <a:prstGeom prst="ellipse">
            <a:avLst/>
          </a:prstGeom>
          <a:solidFill>
            <a:srgbClr val="CFAB21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2145C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66928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huddle</a:t>
            </a:r>
            <a:endParaRPr lang="en-US" sz="88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1280160" cy="73152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8" name="Shape 6"/>
          <p:cNvSpPr/>
          <p:nvPr/>
        </p:nvSpPr>
        <p:spPr>
          <a:xfrm>
            <a:off x="1874520" y="1719072"/>
            <a:ext cx="457200" cy="73152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019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social trust network for pet people.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every pet's life through safety, community, and care.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1572768" cy="329184"/>
          </a:xfrm>
          <a:prstGeom prst="roundRect">
            <a:avLst>
              <a:gd name="adj" fmla="val 19444"/>
            </a:avLst>
          </a:prstGeom>
          <a:solidFill>
            <a:srgbClr val="EF4444">
              <a:alpha val="8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0906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12848" y="3090672"/>
            <a:ext cx="1572768" cy="329184"/>
          </a:xfrm>
          <a:prstGeom prst="roundRect">
            <a:avLst>
              <a:gd name="adj" fmla="val 19444"/>
            </a:avLst>
          </a:prstGeom>
          <a:solidFill>
            <a:srgbClr val="7C3AED">
              <a:alpha val="8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212848" y="30906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22776" y="3090672"/>
            <a:ext cx="1572768" cy="329184"/>
          </a:xfrm>
          <a:prstGeom prst="roundRect">
            <a:avLst>
              <a:gd name="adj" fmla="val 19444"/>
            </a:avLst>
          </a:prstGeom>
          <a:solidFill>
            <a:srgbClr val="CFAB21">
              <a:alpha val="8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922776" y="30906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Exchange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32704" y="3090672"/>
            <a:ext cx="1572768" cy="329184"/>
          </a:xfrm>
          <a:prstGeom prst="roundRect">
            <a:avLst>
              <a:gd name="adj" fmla="val 19444"/>
            </a:avLst>
          </a:prstGeom>
          <a:solidFill>
            <a:srgbClr val="0891B2">
              <a:alpha val="8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32704" y="30906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42632" y="3090672"/>
            <a:ext cx="1572768" cy="329184"/>
          </a:xfrm>
          <a:prstGeom prst="roundRect">
            <a:avLst>
              <a:gd name="adj" fmla="val 19444"/>
            </a:avLst>
          </a:prstGeom>
          <a:solidFill>
            <a:srgbClr val="2145CF">
              <a:alpha val="8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42632" y="30906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Hyphen Fong  ·  Founder  ·  hyphen@huddle.pet  ·  huddle.pet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145CF">
              <a:alpha val="8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 ·  USD 500K  ·  SAFE  ·  Hong Kong 2026  ·  iOS &amp; Android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11880" cy="5143500"/>
          </a:xfrm>
          <a:prstGeom prst="rect">
            <a:avLst/>
          </a:prstGeom>
          <a:solidFill>
            <a:srgbClr val="060E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Pet life is
</a:t>
            </a:r>
            <a:r>
              <a:rPr lang="en-US" sz="2600" dirty="0">
                <a:solidFill>
                  <a:srgbClr val="CFAB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fragmented,
</a:t>
            </a: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unverified,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dangerously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slow.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40965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 exists.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5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does not.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22192" y="256032"/>
            <a:ext cx="5047488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22192" y="256032"/>
            <a:ext cx="64008" cy="14447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986784" y="37490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is too slow and scattered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86784" y="676656"/>
            <a:ext cx="4773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pet alerts live in WhatsApp groups and Facebook posts. No real-time layer. In HK's dense traffic, a lost pet is a life-or-death race. Minutes matter. The current infrastructure fails them.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22192" y="1828800"/>
            <a:ext cx="5047488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22192" y="1828800"/>
            <a:ext cx="64008" cy="1444752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12" name="Text 10"/>
          <p:cNvSpPr/>
          <p:nvPr/>
        </p:nvSpPr>
        <p:spPr>
          <a:xfrm>
            <a:off x="3986784" y="194767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care and community is weak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86784" y="2249424"/>
            <a:ext cx="4773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sitters found through unverified groups. Fake profiles, scams, zero accountability. No identity verification. No community context. Pet owners gamble on strangers every day.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22192" y="3401568"/>
            <a:ext cx="5047488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22192" y="3401568"/>
            <a:ext cx="64008" cy="1444752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16" name="Text 14"/>
          <p:cNvSpPr/>
          <p:nvPr/>
        </p:nvSpPr>
        <p:spPr>
          <a:xfrm>
            <a:off x="3986784" y="352044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owners juggle too many disconnected tools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86784" y="3822192"/>
            <a:ext cx="4773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Safety, social, care, and community each live in a different app or group chat. Five tools for one daily routine. The cognitive load is real — and entirely unnecessary.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60E1C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700,000+ pets in HK  ·  care and safety interactions still managed via unverified WhatsApp and Facebook groups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structural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 is 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2145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already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2145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happening.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84048" y="2121408"/>
            <a:ext cx="4114800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2121408"/>
            <a:ext cx="4114800" cy="64008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6" name="Text 4"/>
          <p:cNvSpPr/>
          <p:nvPr/>
        </p:nvSpPr>
        <p:spPr>
          <a:xfrm>
            <a:off x="512064" y="223113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🐾 Pets are core family units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12064" y="2542032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Fertility at 0.75 in HK — world's lowest. Pets are replacing children. Spending has shifted from discretionary to essential. This is demographic, not trend.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73168" y="2121408"/>
            <a:ext cx="4114800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73168" y="2121408"/>
            <a:ext cx="4114800" cy="64008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223113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Spending is durable and non-cyclical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01184" y="2542032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care held through 2008, 2020, 2022. Morgan Stanley projects $275B US market by 2030. APPA 2025: 97% of owners consider pets family. This spend does not compress.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3538728"/>
            <a:ext cx="4114800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" y="3538728"/>
            <a:ext cx="411480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" y="364845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Urban density makes real-time local coordination more valuable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2064" y="3959352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cities like HK, SG, Seoul, Tokyo are where a hyper-local trust network creates maximum value. 7.5M people in 1,100km² — every neighborhood is a community waiting to activate.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3168" y="3538728"/>
            <a:ext cx="4114800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73168" y="3538728"/>
            <a:ext cx="411480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901184" y="364845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 Policy and lifestyle shifts are expanding pet-inclusive daily life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01184" y="3959352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2025 Policy Address: dog-friendly restaurants approved. MTR pet access trialled. KMB pet bus live. A 30-year regulatory wall is coming down — exactly as huddle launches.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is the proof of urgency. The shift is global.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trust and safety layer for pet life.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389888"/>
            <a:ext cx="2029968" cy="345643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389888"/>
            <a:ext cx="2029968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536192"/>
            <a:ext cx="804672" cy="804672"/>
          </a:xfrm>
          <a:prstGeom prst="ellipse">
            <a:avLst/>
          </a:prstGeom>
          <a:solidFill>
            <a:srgbClr val="EF4444">
              <a:alpha val="8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536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" y="242316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272491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urgency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999232"/>
            <a:ext cx="184708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Map and Safety Signals make huddle indispensable in the moment that matters most. A lost pet, a poison alert, a stray — these events drive immediate download and immediate trust.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39572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32304" y="1389888"/>
            <a:ext cx="2029968" cy="345643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32304" y="1389888"/>
            <a:ext cx="2029968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3054096" y="1536192"/>
            <a:ext cx="804672" cy="804672"/>
          </a:xfrm>
          <a:prstGeom prst="ellipse">
            <a:avLst/>
          </a:prstGeom>
          <a:solidFill>
            <a:srgbClr val="7C3AED">
              <a:alpha val="8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054096" y="1536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523744" y="242316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23744" y="272491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retention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23744" y="2999232"/>
            <a:ext cx="184708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social forum and Discover layer keep users coming back daily. Pet owners find their local pack. Rescue threads, meetups, and neighborhood bonds form. Churn collapses.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62272" y="239572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08576" y="1389888"/>
            <a:ext cx="2029968" cy="345643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8576" y="1389888"/>
            <a:ext cx="2029968" cy="73152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23" name="Shape 21"/>
          <p:cNvSpPr/>
          <p:nvPr/>
        </p:nvSpPr>
        <p:spPr>
          <a:xfrm>
            <a:off x="5230368" y="1536192"/>
            <a:ext cx="804672" cy="804672"/>
          </a:xfrm>
          <a:prstGeom prst="ellipse">
            <a:avLst/>
          </a:prstGeom>
          <a:solidFill>
            <a:srgbClr val="CFAB21">
              <a:alpha val="8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1536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🐾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700016" y="242316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AB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0016" y="272491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monetization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0016" y="2999232"/>
            <a:ext cx="184708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trust exists in the community, care exchange is natural. Users book sitting, walks, and playdates with people they already know from the map and the forum.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38544" y="2395728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84848" y="1389888"/>
            <a:ext cx="2029968" cy="345643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84848" y="1389888"/>
            <a:ext cx="2029968" cy="73152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31" name="Shape 29"/>
          <p:cNvSpPr/>
          <p:nvPr/>
        </p:nvSpPr>
        <p:spPr>
          <a:xfrm>
            <a:off x="7406640" y="1536192"/>
            <a:ext cx="804672" cy="804672"/>
          </a:xfrm>
          <a:prstGeom prst="ellipse">
            <a:avLst/>
          </a:prstGeom>
          <a:solidFill>
            <a:srgbClr val="2145CF">
              <a:alpha val="8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1536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876288" y="242316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45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76288" y="272491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all three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76288" y="2999232"/>
            <a:ext cx="184708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identity, safety history, care track record, and social graph compound over time. The trust layer is the moat that no single-feature competitor can replicate.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60E1C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creates urgency  ·  Community creates retention  ·  Care creates monetization  ·  Trust connects all three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0" y="914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network connecting safety, community, and care.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749808"/>
            <a:ext cx="2523744" cy="3913632"/>
          </a:xfrm>
          <a:prstGeom prst="roundRect">
            <a:avLst>
              <a:gd name="adj" fmla="val 9058"/>
            </a:avLst>
          </a:prstGeom>
          <a:solidFill>
            <a:srgbClr val="0A1A30"/>
          </a:solidFill>
          <a:ln/>
          <a:effectLst>
            <a:outerShdw blurRad="279400" dist="762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850392"/>
            <a:ext cx="2340864" cy="3712464"/>
          </a:xfrm>
          <a:prstGeom prst="roundRect">
            <a:avLst>
              <a:gd name="adj" fmla="val 7031"/>
            </a:avLst>
          </a:prstGeom>
          <a:solidFill>
            <a:srgbClr val="112040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850392"/>
            <a:ext cx="731520" cy="128016"/>
          </a:xfrm>
          <a:prstGeom prst="roundRect">
            <a:avLst>
              <a:gd name="adj" fmla="val 42857"/>
            </a:avLst>
          </a:prstGeom>
          <a:solidFill>
            <a:srgbClr val="0A1A3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  ···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66928" y="1188720"/>
            <a:ext cx="2340864" cy="384048"/>
          </a:xfrm>
          <a:prstGeom prst="rect">
            <a:avLst/>
          </a:prstGeom>
          <a:solidFill>
            <a:srgbClr val="2145CF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11887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" y="1572768"/>
            <a:ext cx="2304288" cy="32918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59105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Lost Pet Alert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 Kok, 2 min ago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" y="1956816"/>
            <a:ext cx="2304288" cy="32918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197510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🐾 3 pack members nearby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216" y="2231136"/>
            <a:ext cx="2304288" cy="32918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24942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Stray spotted — CWB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" y="2505456"/>
            <a:ext cx="2304288" cy="32918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52374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Broadcast active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3950208"/>
            <a:ext cx="2340864" cy="201168"/>
          </a:xfrm>
          <a:prstGeom prst="rect">
            <a:avLst/>
          </a:prstGeom>
          <a:solidFill>
            <a:srgbClr val="2145CF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95020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replace with screenshot ]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75488" y="470001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490118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your location.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who's out.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46704" y="749808"/>
            <a:ext cx="2523744" cy="3913632"/>
          </a:xfrm>
          <a:prstGeom prst="roundRect">
            <a:avLst>
              <a:gd name="adj" fmla="val 9058"/>
            </a:avLst>
          </a:prstGeom>
          <a:solidFill>
            <a:srgbClr val="0A1A30"/>
          </a:solidFill>
          <a:ln/>
          <a:effectLst>
            <a:outerShdw blurRad="279400" dist="762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38144" y="850392"/>
            <a:ext cx="2340864" cy="3712464"/>
          </a:xfrm>
          <a:prstGeom prst="roundRect">
            <a:avLst>
              <a:gd name="adj" fmla="val 7031"/>
            </a:avLst>
          </a:prstGeom>
          <a:solidFill>
            <a:srgbClr val="112040"/>
          </a:solidFill>
          <a:ln/>
        </p:spPr>
      </p:sp>
      <p:sp>
        <p:nvSpPr>
          <p:cNvPr id="25" name="Shape 23"/>
          <p:cNvSpPr/>
          <p:nvPr/>
        </p:nvSpPr>
        <p:spPr>
          <a:xfrm>
            <a:off x="4242816" y="850392"/>
            <a:ext cx="731520" cy="128016"/>
          </a:xfrm>
          <a:prstGeom prst="roundRect">
            <a:avLst>
              <a:gd name="adj" fmla="val 42857"/>
            </a:avLst>
          </a:prstGeom>
          <a:solidFill>
            <a:srgbClr val="0A1A30"/>
          </a:solidFill>
          <a:ln/>
        </p:spPr>
      </p:sp>
      <p:sp>
        <p:nvSpPr>
          <p:cNvPr id="26" name="Text 24"/>
          <p:cNvSpPr/>
          <p:nvPr/>
        </p:nvSpPr>
        <p:spPr>
          <a:xfrm>
            <a:off x="3511296" y="1005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  ···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438144" y="1188720"/>
            <a:ext cx="2340864" cy="384048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547872" y="11887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Forum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56432" y="1554480"/>
            <a:ext cx="2304288" cy="32918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493008" y="157276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Lost: Golden near TKO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D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upvotes · 8 comments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56432" y="1956816"/>
            <a:ext cx="2304288" cy="32918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493008" y="197510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Free stray TNR clinic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10am · Sham Shui Po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56432" y="2359152"/>
            <a:ext cx="2304288" cy="32918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493008" y="237744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🐾 Poison alert: baits found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Kowloon Park — URGENT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56432" y="2761488"/>
            <a:ext cx="2304288" cy="32918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493008" y="277977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87 new posts today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38144" y="3950208"/>
            <a:ext cx="2340864" cy="201168"/>
          </a:xfrm>
          <a:prstGeom prst="rect">
            <a:avLst/>
          </a:prstGeom>
          <a:solidFill>
            <a:srgbClr val="7C3AED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438144" y="395020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replace with screenshot ]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346704" y="470001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Forum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46704" y="490118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threads,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posts, events.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17920" y="749808"/>
            <a:ext cx="2523744" cy="3913632"/>
          </a:xfrm>
          <a:prstGeom prst="roundRect">
            <a:avLst>
              <a:gd name="adj" fmla="val 9058"/>
            </a:avLst>
          </a:prstGeom>
          <a:solidFill>
            <a:srgbClr val="0A1A30"/>
          </a:solidFill>
          <a:ln/>
          <a:effectLst>
            <a:outerShdw blurRad="279400" dist="762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850392"/>
            <a:ext cx="2340864" cy="3712464"/>
          </a:xfrm>
          <a:prstGeom prst="roundRect">
            <a:avLst>
              <a:gd name="adj" fmla="val 7031"/>
            </a:avLst>
          </a:prstGeom>
          <a:solidFill>
            <a:srgbClr val="112040"/>
          </a:solidFill>
          <a:ln/>
        </p:spPr>
      </p:sp>
      <p:sp>
        <p:nvSpPr>
          <p:cNvPr id="43" name="Shape 41"/>
          <p:cNvSpPr/>
          <p:nvPr/>
        </p:nvSpPr>
        <p:spPr>
          <a:xfrm>
            <a:off x="7114032" y="850392"/>
            <a:ext cx="731520" cy="128016"/>
          </a:xfrm>
          <a:prstGeom prst="roundRect">
            <a:avLst>
              <a:gd name="adj" fmla="val 42857"/>
            </a:avLst>
          </a:prstGeom>
          <a:solidFill>
            <a:srgbClr val="0A1A30"/>
          </a:solidFill>
          <a:ln/>
        </p:spPr>
      </p:sp>
      <p:sp>
        <p:nvSpPr>
          <p:cNvPr id="44" name="Text 42"/>
          <p:cNvSpPr/>
          <p:nvPr/>
        </p:nvSpPr>
        <p:spPr>
          <a:xfrm>
            <a:off x="6382512" y="1005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  ···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309360" y="1188720"/>
            <a:ext cx="2340864" cy="384048"/>
          </a:xfrm>
          <a:prstGeom prst="rect">
            <a:avLst/>
          </a:prstGeom>
          <a:solidFill>
            <a:srgbClr val="CFAB21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19088" y="11887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Exchange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27648" y="1554480"/>
            <a:ext cx="2304288" cy="32918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364224" y="157276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Verified sitter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· 4.9★ · 23 reviews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27648" y="1956816"/>
            <a:ext cx="2304288" cy="32918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364224" y="197510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🐶 Dog walking · $38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tomorrow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27648" y="2359152"/>
            <a:ext cx="2304288" cy="32918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364224" y="237744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Identity verified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E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HKID + Biometric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27648" y="2761488"/>
            <a:ext cx="2304288" cy="32918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364224" y="277977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Booking confirmed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309360" y="3950208"/>
            <a:ext cx="2340864" cy="201168"/>
          </a:xfrm>
          <a:prstGeom prst="rect">
            <a:avLst/>
          </a:prstGeom>
          <a:solidFill>
            <a:srgbClr val="CFAB21">
              <a:alpha val="7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309360" y="395020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replace with screenshot ]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217920" y="470001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Exchange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17920" y="490118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local care.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platform fee.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65760" y="50657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3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event  →  community interaction  →  trust  →  retained behavior and economic activity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E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91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Early proof of density, not vanity scale.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live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0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huddle.pet is live and publicly accessible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554480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179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 built: Map, Safety, Social, Discover, Care, Chat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901952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653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and Android ready — App Store submission imminent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249424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12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/ Huddle+ ($4.99) / Huddle Gold ($9.99) tiers active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596896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60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+ care exchange + B2B revenue architecture in place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944368"/>
            <a:ext cx="137160" cy="137160"/>
          </a:xfrm>
          <a:prstGeom prst="ellipse">
            <a:avLst/>
          </a:prstGeom>
          <a:solidFill>
            <a:srgbClr val="2145C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077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seed neighborhoods identified: Sai Kung, Wan Chai, TKO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3291840"/>
            <a:ext cx="137160" cy="137160"/>
          </a:xfrm>
          <a:prstGeom prst="ellipse">
            <a:avLst/>
          </a:prstGeom>
          <a:solidFill>
            <a:srgbClr val="2145C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552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Leader outreach program: 15 local influencers mapped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639312"/>
            <a:ext cx="137160" cy="137160"/>
          </a:xfrm>
          <a:prstGeom prst="ellipse">
            <a:avLst/>
          </a:prstGeom>
          <a:solidFill>
            <a:srgbClr val="2145C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027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3 B2B partner conversations initiated (groomer + vet + café)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986784"/>
            <a:ext cx="137160" cy="137160"/>
          </a:xfrm>
          <a:prstGeom prst="ellipse">
            <a:avLst/>
          </a:prstGeom>
          <a:solidFill>
            <a:srgbClr val="CFAB2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502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 and soft-launch sequence designed and ready to execute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768096"/>
            <a:ext cx="4069080" cy="4133088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768096"/>
            <a:ext cx="4069080" cy="64008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26" name="Text 24"/>
          <p:cNvSpPr/>
          <p:nvPr/>
        </p:nvSpPr>
        <p:spPr>
          <a:xfrm>
            <a:off x="5010912" y="877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90 Days: Density Plan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10912" y="1280160"/>
            <a:ext cx="3749040" cy="658368"/>
          </a:xfrm>
          <a:prstGeom prst="rect">
            <a:avLst/>
          </a:prstGeom>
          <a:solidFill>
            <a:srgbClr val="F7F9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010912" y="1280160"/>
            <a:ext cx="54864" cy="658368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29" name="Text 27"/>
          <p:cNvSpPr/>
          <p:nvPr/>
        </p:nvSpPr>
        <p:spPr>
          <a:xfrm>
            <a:off x="5138928" y="13350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1–14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33502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Leader seeding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38928" y="155448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visible local pet people in 3 HK districts. Activate map density before general launch.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10912" y="2011680"/>
            <a:ext cx="37490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010912" y="2011680"/>
            <a:ext cx="54864" cy="658368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20665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15–30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206654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partner onboarding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38928" y="228600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 huddle partner businesses live. Immediate trust credibility in local areas.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10912" y="2743200"/>
            <a:ext cx="3749040" cy="658368"/>
          </a:xfrm>
          <a:prstGeom prst="rect">
            <a:avLst/>
          </a:prstGeom>
          <a:solidFill>
            <a:srgbClr val="F7F9FF"/>
          </a:solidFill>
          <a:ln/>
        </p:spPr>
      </p:sp>
      <p:sp>
        <p:nvSpPr>
          <p:cNvPr id="38" name="Shape 36"/>
          <p:cNvSpPr/>
          <p:nvPr/>
        </p:nvSpPr>
        <p:spPr>
          <a:xfrm>
            <a:off x="5010912" y="2743200"/>
            <a:ext cx="54864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5138928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279806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live + organic launch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38928" y="301752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 optimized listing. Neighborhood micro-campaigns. Target 1,000 active installs.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10912" y="3474720"/>
            <a:ext cx="37490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5010912" y="3474720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5138928" y="35295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352958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safety event broadcast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38928" y="374904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safety signal activating the network proves the core value proposition to all users.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60E1C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 is the right time to invest — before density creates scarcity of early-mover position in HK's most active districts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trust graph compounds over time.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502920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89888"/>
            <a:ext cx="64008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" y="1517904"/>
            <a:ext cx="530352" cy="530352"/>
          </a:xfrm>
          <a:prstGeom prst="ellipse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517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46304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History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7373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lost pet alert responded to, every hazard reported, every emergency interaction — recorded and visible. A user with 18 months of safety participation cannot be replicated by a new entrant.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502920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304288"/>
            <a:ext cx="64008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" y="2432304"/>
            <a:ext cx="530352" cy="530352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24323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237744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Graph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26517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built through shared walks, park meetups, and rescue events. The longer users stay, the denser and more valuable their local network becomes. Leaving means losing it all.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18688"/>
            <a:ext cx="502920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218688"/>
            <a:ext cx="64008" cy="804672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" y="3346704"/>
            <a:ext cx="530352" cy="530352"/>
          </a:xfrm>
          <a:prstGeom prst="ellipse">
            <a:avLst/>
          </a:prstGeom>
          <a:solidFill>
            <a:srgbClr val="2145CF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3346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70432" y="329184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Verification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35661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identity badge, vouches from other members, care provider reputation. This is a social credit system for pet people — earned through presence and behavior over time.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133088"/>
            <a:ext cx="5029200" cy="8046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4133088"/>
            <a:ext cx="64008" cy="804672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24" name="Shape 22"/>
          <p:cNvSpPr/>
          <p:nvPr/>
        </p:nvSpPr>
        <p:spPr>
          <a:xfrm>
            <a:off x="512064" y="4261104"/>
            <a:ext cx="530352" cy="530352"/>
          </a:xfrm>
          <a:prstGeom prst="ellipse">
            <a:avLst/>
          </a:prstGeom>
          <a:solidFill>
            <a:srgbClr val="CFAB21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" y="4261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70432" y="420624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History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44805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bookings, reviews given and received, trusted carer relationships. A provider with 30 verified care sessions has something no new marketplace can offer: proof.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0" y="1353312"/>
            <a:ext cx="3200400" cy="3310128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0" y="1353312"/>
            <a:ext cx="3200400" cy="64008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30" name="Text 28"/>
          <p:cNvSpPr/>
          <p:nvPr/>
        </p:nvSpPr>
        <p:spPr>
          <a:xfrm>
            <a:off x="5833872" y="1481328"/>
            <a:ext cx="28712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longer users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stay, the more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trusted and useful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their presence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becomes.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833872" y="3273552"/>
            <a:ext cx="2743200" cy="64008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32" name="Text 30"/>
          <p:cNvSpPr/>
          <p:nvPr/>
        </p:nvSpPr>
        <p:spPr>
          <a:xfrm>
            <a:off x="5833872" y="3401568"/>
            <a:ext cx="28712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can replicate 18 months of trust graph data. This is the moat.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40A14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never delete an app that once helped find their pet — that emotional anchor is permanent and irreplaceable.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8229600" cy="8229600"/>
          </a:xfrm>
          <a:prstGeom prst="ellipse">
            <a:avLst/>
          </a:prstGeom>
          <a:solidFill>
            <a:srgbClr val="2145CF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011680"/>
            <a:ext cx="5486400" cy="5486400"/>
          </a:xfrm>
          <a:prstGeom prst="ellipse">
            <a:avLst/>
          </a:prstGeom>
          <a:solidFill>
            <a:srgbClr val="CFAB21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2743200"/>
            <a:ext cx="3657600" cy="3657600"/>
          </a:xfrm>
          <a:prstGeom prst="ellipse">
            <a:avLst/>
          </a:prstGeom>
          <a:solidFill>
            <a:srgbClr val="EF4444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74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94360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pet left behind.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377440" cy="73152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828800"/>
            <a:ext cx="832104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828800"/>
            <a:ext cx="64008" cy="87782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019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huddle improves life for owned pets AND for strays and vulnerable animals on the streets.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pin system, stray rescue alerts, and community rescue threads make every animal more visible, more protected, and harder to ignore.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832104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834640"/>
            <a:ext cx="64008" cy="8778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077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turns passive concern into coordinated local action.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20040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lovers already want to help. huddle gives them the infrastructure. A stray spotted on the map becomes a rescue thread becomes a community adoption.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832104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840480"/>
            <a:ext cx="64008" cy="877824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136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utility. It is social infrastructure.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20624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electricity, like roads — the value of a trusted local pet network compounds as it grows. Every new user makes every existing user safer and more connected.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2145CF">
              <a:alpha val="8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the pack. Protect yours.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91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Hong Kong is the perfect proving ground.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276148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22960"/>
            <a:ext cx="2761488" cy="64008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9509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145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7,400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02336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per km²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181051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urban density in Asia. Network effects activate faster. Every neighborhood is a natural community.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6148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61488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346704" y="9509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46704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penetration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46704" y="181051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pet owner is digitally reachable. 90% on smartphones. Real-time community coordination is possible now.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44768" y="822960"/>
            <a:ext cx="276148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822960"/>
            <a:ext cx="2761488" cy="64008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9509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FAB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$1,100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91072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spend per pet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181051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in Asia-Pacific. Premium willingness confirmed. HK pet owners spend up to HK$10,000/month.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907792"/>
            <a:ext cx="276148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07792"/>
            <a:ext cx="2761488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30358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02336" y="3621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Fertility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" y="389534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World's lowest. Pets are replacing children. Spending is essential, not discretionary. Durable demand.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07792"/>
            <a:ext cx="276148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07792"/>
            <a:ext cx="2761488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346704" y="30358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Mid-2026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346704" y="3621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Dog-friendly restaurants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46704" y="389534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Policy Address. 30-year ban lifted. 500–1,000 permits incoming. Physical pet life is expanding.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4768" y="2907792"/>
            <a:ext cx="276148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2907792"/>
            <a:ext cx="2761488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30358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291072" y="3621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pet apps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91072" y="389534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combines trust network + safety + social + care in one HK-native app. The gap is total.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60E1C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deliberate launch thesis — not a geographic limitation. HK proves the model before the network expands.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in Hong Kong.
</a:t>
            </a:r>
            <a:r>
              <a:rPr lang="en-US" sz="2800" dirty="0">
                <a:solidFill>
                  <a:srgbClr val="2145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Repeatable in dense,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145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pet-friendly cities globally.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29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huddle works where three conditions converge: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93192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377440"/>
            <a:ext cx="64008" cy="658368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450592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density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26883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of 3M+, high-rise living, concentrated neighborhoods where daily pet routines naturally overlap.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393192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127248"/>
            <a:ext cx="64008" cy="658368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20040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culture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343814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penetration above 80%, social app habit, real-time communication normalized.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877056"/>
            <a:ext cx="393192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877056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950208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humanization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418795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birth rates, rising pet spend, cultural shift treating pets as family. Dominant in all 21 target markets.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029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Next-market archetypes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377440"/>
            <a:ext cx="3931920" cy="603504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0" y="2377440"/>
            <a:ext cx="64008" cy="603504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20" name="Text 18"/>
          <p:cNvSpPr/>
          <p:nvPr/>
        </p:nvSpPr>
        <p:spPr>
          <a:xfrm>
            <a:off x="5102352" y="243230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02352" y="267004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Dense, mobile-first, highest SE Asia pet spend, English-speaking. Near-identical HK conditions.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37760" y="3072384"/>
            <a:ext cx="3931920" cy="603504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3072384"/>
            <a:ext cx="64008" cy="603504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24" name="Text 22"/>
          <p:cNvSpPr/>
          <p:nvPr/>
        </p:nvSpPr>
        <p:spPr>
          <a:xfrm>
            <a:off x="5102352" y="3127248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02352" y="336499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pets than children. ¥1.9T pet industry. Premium culture. Neighborhood community strong.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37760" y="3767328"/>
            <a:ext cx="3931920" cy="603504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3767328"/>
            <a:ext cx="64008" cy="6035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5102352" y="382219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Seoul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02352" y="4059936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strollers outsell baby strollers. 6M pet households. Pet humanization most extreme globally.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4462272"/>
            <a:ext cx="3931920" cy="603504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937760" y="4462272"/>
            <a:ext cx="64008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5102352" y="451713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Taipei / London / New York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02352" y="475488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expansion. Same playbook, translated for local trust norms.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4809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Karrot playbook: 1 city → proof → scale. Karrot reached $2.7B in 6 years. huddle runs the same model — for the pet vertical.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E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914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trust nodes, not just users.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B2B2C. Partner types that already hold community trust: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70432"/>
            <a:ext cx="41148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" y="1316736"/>
            <a:ext cx="621792" cy="621792"/>
          </a:xfrm>
          <a:prstGeom prst="ellipse">
            <a:avLst/>
          </a:prstGeom>
          <a:solidFill>
            <a:srgbClr val="EF4444">
              <a:alpha val="8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13167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70432" y="13167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Vets &amp; Clinics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1975104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pet owner visits a vet. A huddle QR at reception seeds the entire client base instantly. Vets are the most trusted figure in pet life.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1704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170432"/>
            <a:ext cx="4114800" cy="73152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14" name="Shape 12"/>
          <p:cNvSpPr/>
          <p:nvPr/>
        </p:nvSpPr>
        <p:spPr>
          <a:xfrm>
            <a:off x="4773168" y="1316736"/>
            <a:ext cx="621792" cy="621792"/>
          </a:xfrm>
          <a:prstGeom prst="ellipse">
            <a:avLst/>
          </a:prstGeom>
          <a:solidFill>
            <a:srgbClr val="2145CF">
              <a:alpha val="8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13167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41264" y="13167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Groomers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3168" y="1975104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repeat visits. Already hold trust. A groomer endorsement converts their entire client list into pack members.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04495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3044952"/>
            <a:ext cx="41148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Shape 18"/>
          <p:cNvSpPr/>
          <p:nvPr/>
        </p:nvSpPr>
        <p:spPr>
          <a:xfrm>
            <a:off x="402336" y="3191256"/>
            <a:ext cx="621792" cy="621792"/>
          </a:xfrm>
          <a:prstGeom prst="ellipse">
            <a:avLst/>
          </a:prstGeom>
          <a:solidFill>
            <a:srgbClr val="22C55E">
              <a:alpha val="8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" y="31912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🐾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70432" y="31912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Rescues &amp; Shelters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" y="3849624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community roots. Animal welfare audience is huddle's most passionate early adopter. They give huddle the stray-protection mission proof.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26864" y="304495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3044952"/>
            <a:ext cx="41148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4773168" y="3191256"/>
            <a:ext cx="621792" cy="621792"/>
          </a:xfrm>
          <a:prstGeom prst="ellipse">
            <a:avLst/>
          </a:prstGeom>
          <a:solidFill>
            <a:srgbClr val="7C3AED">
              <a:alpha val="8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31912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41264" y="31912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Shops &amp; Cafés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73168" y="3849624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footprint. Window decal = community signal. Dog-friendly venues become huddle territory markers on the Live Map.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304288" y="309067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304288" y="3090672"/>
            <a:ext cx="4114800" cy="73152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32" name="Shape 30"/>
          <p:cNvSpPr/>
          <p:nvPr/>
        </p:nvSpPr>
        <p:spPr>
          <a:xfrm>
            <a:off x="2450592" y="3236976"/>
            <a:ext cx="621792" cy="621792"/>
          </a:xfrm>
          <a:prstGeom prst="ellipse">
            <a:avLst/>
          </a:prstGeom>
          <a:solidFill>
            <a:srgbClr val="CFAB21">
              <a:alpha val="8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450592" y="32369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📣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218688" y="32369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Leaders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450592" y="3895344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local pet owners — park regulars, shelter volunteers, walking group organizers. 15 Pack Leaders in 3 districts activate density before general launch.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60E1C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partners already hold trust · they already have pet-owner communities · they seed local density faster than paid acquisition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trusted local economy for pet life.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2743200" cy="1993392"/>
          </a:xfrm>
          <a:prstGeom prst="rect">
            <a:avLst/>
          </a:prstGeom>
          <a:solidFill>
            <a:srgbClr val="112040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61872"/>
            <a:ext cx="2743200" cy="64008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" y="13716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AB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 Exchange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166420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each side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" y="1975104"/>
            <a:ext cx="91440" cy="91440"/>
          </a:xfrm>
          <a:prstGeom prst="ellipse">
            <a:avLst/>
          </a:prstGeom>
          <a:solidFill>
            <a:srgbClr val="CFAB21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93852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booking: ~$38 USD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" y="2267712"/>
            <a:ext cx="91440" cy="91440"/>
          </a:xfrm>
          <a:prstGeom prst="ellipse">
            <a:avLst/>
          </a:prstGeom>
          <a:solidFill>
            <a:srgbClr val="CFAB21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223113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fee: $7.60/booking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" y="2560320"/>
            <a:ext cx="91440" cy="91440"/>
          </a:xfrm>
          <a:prstGeom prst="ellipse">
            <a:avLst/>
          </a:prstGeom>
          <a:solidFill>
            <a:srgbClr val="CFAB21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252374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bookings/active user/month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" y="2852928"/>
            <a:ext cx="91440" cy="91440"/>
          </a:xfrm>
          <a:prstGeom prst="ellipse">
            <a:avLst/>
          </a:prstGeom>
          <a:solidFill>
            <a:srgbClr val="CFAB21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281635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receives 90%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261872"/>
            <a:ext cx="2743200" cy="1993392"/>
          </a:xfrm>
          <a:prstGeom prst="rect">
            <a:avLst/>
          </a:prstGeom>
          <a:solidFill>
            <a:srgbClr val="112040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261872"/>
            <a:ext cx="2743200" cy="64008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18" name="Text 16"/>
          <p:cNvSpPr/>
          <p:nvPr/>
        </p:nvSpPr>
        <p:spPr>
          <a:xfrm>
            <a:off x="3328416" y="13716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45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Subscriptions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28416" y="166420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$4.99 / $9.99 /mo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28416" y="1975104"/>
            <a:ext cx="91440" cy="91440"/>
          </a:xfrm>
          <a:prstGeom prst="ellipse">
            <a:avLst/>
          </a:prstGeom>
          <a:solidFill>
            <a:srgbClr val="2145CF"/>
          </a:solidFill>
          <a:ln/>
        </p:spPr>
      </p:sp>
      <p:sp>
        <p:nvSpPr>
          <p:cNvPr id="21" name="Text 19"/>
          <p:cNvSpPr/>
          <p:nvPr/>
        </p:nvSpPr>
        <p:spPr>
          <a:xfrm>
            <a:off x="3493008" y="193852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Free: core map, chat, Discover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28416" y="2267712"/>
            <a:ext cx="91440" cy="91440"/>
          </a:xfrm>
          <a:prstGeom prst="ellipse">
            <a:avLst/>
          </a:prstGeom>
          <a:solidFill>
            <a:srgbClr val="2145CF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223113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Huddle+: $4.99 — enhanced tools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28416" y="2560320"/>
            <a:ext cx="91440" cy="91440"/>
          </a:xfrm>
          <a:prstGeom prst="ellipse">
            <a:avLst/>
          </a:prstGeom>
          <a:solidFill>
            <a:srgbClr val="2145CF"/>
          </a:solidFill>
          <a:ln/>
        </p:spPr>
      </p:sp>
      <p:sp>
        <p:nvSpPr>
          <p:cNvPr id="25" name="Text 23"/>
          <p:cNvSpPr/>
          <p:nvPr/>
        </p:nvSpPr>
        <p:spPr>
          <a:xfrm>
            <a:off x="3493008" y="252374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Huddle Gold: $9.99 — all features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28416" y="2852928"/>
            <a:ext cx="91440" cy="91440"/>
          </a:xfrm>
          <a:prstGeom prst="ellipse">
            <a:avLst/>
          </a:prstGeom>
          <a:solidFill>
            <a:srgbClr val="2145CF"/>
          </a:solidFill>
          <a:ln/>
        </p:spPr>
      </p:sp>
      <p:sp>
        <p:nvSpPr>
          <p:cNvPr id="27" name="Text 25"/>
          <p:cNvSpPr/>
          <p:nvPr/>
        </p:nvSpPr>
        <p:spPr>
          <a:xfrm>
            <a:off x="3493008" y="281635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Plus + 2% Gold conversion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1261872"/>
            <a:ext cx="2743200" cy="1993392"/>
          </a:xfrm>
          <a:prstGeom prst="rect">
            <a:avLst/>
          </a:prstGeom>
          <a:solidFill>
            <a:srgbClr val="112040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1261872"/>
            <a:ext cx="2743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6208776" y="13716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 Partner Network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08776" y="166420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$50–500/mo · Post-funding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08776" y="197510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6373368" y="193852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partner listing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08776" y="226771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6373368" y="223113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map + care placement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08776" y="25603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6373368" y="252374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event sponsorship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08776" y="2852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9" name="Text 37"/>
          <p:cNvSpPr/>
          <p:nvPr/>
        </p:nvSpPr>
        <p:spPr>
          <a:xfrm>
            <a:off x="6373368" y="281635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partners Y1 · 200 Y2 · 500 Y3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0040" y="33649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Projection · Benchmarked: Carousell Y1, Nextdoor ARPU, Hinge conversion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65760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5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Year 1 — HK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5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Year 2 — HK+SG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5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Year 3 — 3 Cities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5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BBCC"/>
                          </a:solidFill>
                        </a:rPr>
                        <a:t>MAU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8,000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35,000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120,000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BBCC"/>
                          </a:solidFill>
                        </a:rPr>
                        <a:t>Subscription Revenue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$32K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$142K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$499K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BBCC"/>
                          </a:solidFill>
                        </a:rPr>
                        <a:t>Care Exchange Revenue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$218K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$954K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$3.28M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BBCC"/>
                          </a:solidFill>
                        </a:rPr>
                        <a:t>B2B Partner Revenue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$30K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$192K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$480K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FAB21"/>
                          </a:solidFill>
                        </a:rPr>
                        <a:t>TOTAL REVENUE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FAB21"/>
                          </a:solidFill>
                        </a:rPr>
                        <a:t>$280K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FAB21"/>
                          </a:solidFill>
                        </a:rPr>
                        <a:t>$1.29M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FAB21"/>
                          </a:solidFill>
                        </a:rPr>
                        <a:t>$4.26M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YoY Growth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+360%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+230%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E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91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AI-leveraged execution. Capital-efficient from day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" y="804672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804672"/>
            <a:ext cx="4114800" cy="73152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326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Hyphen Fong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75488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  ·  Hong Kong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1664208"/>
            <a:ext cx="3474720" cy="45720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7739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Hyphen builds huddle: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2084832"/>
            <a:ext cx="109728" cy="109728"/>
          </a:xfrm>
          <a:prstGeom prst="ellipse">
            <a:avLst/>
          </a:prstGeom>
          <a:solidFill>
            <a:srgbClr val="2145C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482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years building trust between brands and consumers in HK's most competitive categories — FMCG, consumer goods, hospitality.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" y="2468880"/>
            <a:ext cx="109728" cy="109728"/>
          </a:xfrm>
          <a:prstGeom prst="ellipse">
            <a:avLst/>
          </a:prstGeom>
          <a:solidFill>
            <a:srgbClr val="2145C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4323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Rescued Marlboro from a 6-year decline to 51% market share through B2B loyalty programs and community activation — exactly the playbook huddle runs.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" y="2852928"/>
            <a:ext cx="109728" cy="109728"/>
          </a:xfrm>
          <a:prstGeom prst="ellipse">
            <a:avLst/>
          </a:prstGeom>
          <a:solidFill>
            <a:srgbClr val="2145C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816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the industry's largest B2B loyalty program in HK. Knows how to build partner networks and convert business trust into consumer reach.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" y="3236976"/>
            <a:ext cx="109728" cy="109728"/>
          </a:xfrm>
          <a:prstGeom prst="ellipse">
            <a:avLst/>
          </a:prstGeom>
          <a:solidFill>
            <a:srgbClr val="2145C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MARKIES Award winner. Engineered viral campaigns to 1.3M impressions in a single post. Understands how community attention compounds.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" y="3621024"/>
            <a:ext cx="109728" cy="109728"/>
          </a:xfrm>
          <a:prstGeom prst="ellipse">
            <a:avLst/>
          </a:prstGeom>
          <a:solidFill>
            <a:srgbClr val="2145C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84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of Media, Culture and Creative Cities — HKU. The academic lens for why cities need this infrastructure.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45902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fongpoman114@gmail.com  ·  +852 6414 8332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804672"/>
            <a:ext cx="4114800" cy="4114800"/>
          </a:xfrm>
          <a:prstGeom prst="rect">
            <a:avLst/>
          </a:prstGeom>
          <a:solidFill>
            <a:srgbClr val="112040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804672"/>
            <a:ext cx="4114800" cy="73152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24" name="Text 22"/>
          <p:cNvSpPr/>
          <p:nvPr/>
        </p:nvSpPr>
        <p:spPr>
          <a:xfrm>
            <a:off x="4901184" y="932688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Solo founder.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product team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 speed.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901184" y="1901952"/>
            <a:ext cx="3474720" cy="45720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26" name="Shape 24"/>
          <p:cNvSpPr/>
          <p:nvPr/>
        </p:nvSpPr>
        <p:spPr>
          <a:xfrm>
            <a:off x="4901184" y="2011680"/>
            <a:ext cx="3767328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901184" y="2011680"/>
            <a:ext cx="54864" cy="566928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488" y="206654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(Anthropic)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47488" y="228600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iteration, product spec, copy, brand. Weeks of design work compressed to days.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01184" y="2651760"/>
            <a:ext cx="3767328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901184" y="2651760"/>
            <a:ext cx="54864" cy="566928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32" name="Text 30"/>
          <p:cNvSpPr/>
          <p:nvPr/>
        </p:nvSpPr>
        <p:spPr>
          <a:xfrm>
            <a:off x="5047488" y="270662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(CLI)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47488" y="292608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codebase execution, feature implementation, refactoring. Full-stack output.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01184" y="3291840"/>
            <a:ext cx="3767328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01184" y="3291840"/>
            <a:ext cx="54864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5047488" y="334670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+ React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47488" y="356616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backend, auth, RLS, real-time map. Enterprise architecture at startup cost.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901184" y="3931920"/>
            <a:ext cx="3767328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01184" y="3931920"/>
            <a:ext cx="54864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5047488" y="398678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efficiency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47488" y="420624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$0. Full product live at huddle.pet. Every dollar of the $500K raise goes to growth, not engineering.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2145C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CFAB2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5029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$500K to prove city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density, trust retention,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monetization.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Post-money SAFE  ·  Pre-money valuation: USD 3.5M  ·  18-month runway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3200400" cy="64008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743200"/>
            <a:ext cx="484632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743200"/>
            <a:ext cx="64008" cy="457200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77977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45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+ density in core HK districts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" y="29809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Kung · Wan Chai · TKO · Kowloon City. Pack Leaders seeded. First 1,000 active users.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255264"/>
            <a:ext cx="484632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255264"/>
            <a:ext cx="64008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2918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event proof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34930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real broadcast activating the network in a real neighborhood. Prove the 2-tap emergency response works at community scale.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767328"/>
            <a:ext cx="484632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767328"/>
            <a:ext cx="64008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8039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graph growth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40050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users, care bookings, safety participation, social connections — the compounding moat begins accumulating from day one.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4279392"/>
            <a:ext cx="484632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4279392"/>
            <a:ext cx="64008" cy="457200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3159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FA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meaningful revenue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45171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exchange transactions. Subscription conversions. First B2B partners live. $280K ARR target in 12 months.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0" y="749808"/>
            <a:ext cx="3200400" cy="3840480"/>
          </a:xfrm>
          <a:prstGeom prst="rect">
            <a:avLst/>
          </a:prstGeom>
          <a:solidFill>
            <a:srgbClr val="112040"/>
          </a:solidFill>
          <a:ln/>
          <a:effectLst>
            <a:outerShdw blurRad="279400" dist="762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0" y="749808"/>
            <a:ext cx="3200400" cy="73152"/>
          </a:xfrm>
          <a:prstGeom prst="rect">
            <a:avLst/>
          </a:prstGeom>
          <a:solidFill>
            <a:srgbClr val="2145CF"/>
          </a:solidFill>
          <a:ln/>
        </p:spPr>
      </p:sp>
      <p:sp>
        <p:nvSpPr>
          <p:cNvPr id="27" name="Text 25"/>
          <p:cNvSpPr/>
          <p:nvPr/>
        </p:nvSpPr>
        <p:spPr>
          <a:xfrm>
            <a:off x="5833872" y="896112"/>
            <a:ext cx="287121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huddle is building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social trust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pet life.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833872" y="2487168"/>
            <a:ext cx="2560320" cy="54864"/>
          </a:xfrm>
          <a:prstGeom prst="rect">
            <a:avLst/>
          </a:prstGeom>
          <a:solidFill>
            <a:srgbClr val="CFAB21"/>
          </a:solidFill>
          <a:ln/>
        </p:spPr>
      </p:sp>
      <p:sp>
        <p:nvSpPr>
          <p:cNvPr id="29" name="Text 27"/>
          <p:cNvSpPr/>
          <p:nvPr/>
        </p:nvSpPr>
        <p:spPr>
          <a:xfrm>
            <a:off x="5833872" y="2615184"/>
            <a:ext cx="2871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AB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with one city.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FAB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 the model.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FAB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 the network.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33872" y="3547872"/>
            <a:ext cx="2871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KurioCollectives@gmail.com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huddle.pet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33872" y="409651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Global: $150K–$500K pre-seed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stage · Perfect market · Perfect fit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2145CF">
              <a:alpha val="8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the pack. Protect yours.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2452</Words>
  <Application>Microsoft Macintosh PowerPoint</Application>
  <PresentationFormat>On-screen Show (16:9)</PresentationFormat>
  <Paragraphs>324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huddle — Pre-Seed Pitch · 500 Global</dc:title>
  <dc:subject>PptxGenJS Presentation</dc:subject>
  <dc:creator>Hyphen Fong</dc:creator>
  <cp:lastModifiedBy>Hyphen Fong</cp:lastModifiedBy>
  <cp:revision>1</cp:revision>
  <dcterms:created xsi:type="dcterms:W3CDTF">2026-04-09T11:58:21Z</dcterms:created>
  <dcterms:modified xsi:type="dcterms:W3CDTF">2026-04-09T12:05:12Z</dcterms:modified>
</cp:coreProperties>
</file>